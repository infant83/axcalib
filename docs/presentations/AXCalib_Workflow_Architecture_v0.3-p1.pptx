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08691e187545e3" /><Relationship Type="http://schemas.openxmlformats.org/officeDocument/2006/relationships/extended-properties" Target="/docProps/app.xml" Id="R81abd6eea78243dc" /><Relationship Type="http://schemas.openxmlformats.org/officeDocument/2006/relationships/officeDocument" Target="/ppt/presentation.xml" Id="R803eb1d14319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48911c9ffa4d41"/>
  </p:sldMasterIdLst>
  <p:notesMasterIdLst>
    <p:notesMasterId xmlns:r="http://schemas.openxmlformats.org/officeDocument/2006/relationships" r:id="Rad0a05a03aa04ddf"/>
  </p:notesMasterIdLst>
  <p:sldIdLst>
    <p:sldId xmlns:r="http://schemas.openxmlformats.org/officeDocument/2006/relationships" id="256" r:id="Rac25675969d04082"/>
    <p:sldId xmlns:r="http://schemas.openxmlformats.org/officeDocument/2006/relationships" id="257" r:id="Rbaa59e61af644d56"/>
    <p:sldId xmlns:r="http://schemas.openxmlformats.org/officeDocument/2006/relationships" id="258" r:id="Re686a3060712492e"/>
    <p:sldId xmlns:r="http://schemas.openxmlformats.org/officeDocument/2006/relationships" id="259" r:id="R8f794653b24d440c"/>
    <p:sldId xmlns:r="http://schemas.openxmlformats.org/officeDocument/2006/relationships" id="260" r:id="R74c5d32849924453"/>
    <p:sldId xmlns:r="http://schemas.openxmlformats.org/officeDocument/2006/relationships" id="261" r:id="Rf39d8816213842a7"/>
    <p:sldId xmlns:r="http://schemas.openxmlformats.org/officeDocument/2006/relationships" id="262" r:id="R33f6c8edfb604fc4"/>
    <p:sldId xmlns:r="http://schemas.openxmlformats.org/officeDocument/2006/relationships" id="263" r:id="Reda61371b21045d7"/>
    <p:sldId xmlns:r="http://schemas.openxmlformats.org/officeDocument/2006/relationships" id="264" r:id="Rf4a5a2e597c04af5"/>
    <p:sldId xmlns:r="http://schemas.openxmlformats.org/officeDocument/2006/relationships" id="265" r:id="R483a5eb79c8f4852"/>
    <p:sldId xmlns:r="http://schemas.openxmlformats.org/officeDocument/2006/relationships" id="266" r:id="R45180a4e106e49bb"/>
    <p:sldId xmlns:r="http://schemas.openxmlformats.org/officeDocument/2006/relationships" id="267" r:id="Rebb7af75598d4e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021b1298a04877" /><Relationship Type="http://schemas.openxmlformats.org/officeDocument/2006/relationships/slideMaster" Target="/ppt/slideMasters/slideMaster1.xml" Id="R5548911c9ffa4d41" /><Relationship Type="http://schemas.openxmlformats.org/officeDocument/2006/relationships/notesMaster" Target="/ppt/notesMasters/notesMaster1.xml" Id="Rad0a05a03aa04ddf" /><Relationship Type="http://schemas.openxmlformats.org/officeDocument/2006/relationships/presProps" Target="/ppt/presProps.xml" Id="Re5a55fb7fa7e448e" /><Relationship Type="http://schemas.openxmlformats.org/officeDocument/2006/relationships/viewProps" Target="/ppt/viewProps.xml" Id="R5dbaf1798f1b4b10" /><Relationship Type="http://schemas.openxmlformats.org/officeDocument/2006/relationships/tableStyles" Target="/ppt/tableStyles.xml" Id="R4ea93922dbf04db0" /><Relationship Type="http://schemas.openxmlformats.org/officeDocument/2006/relationships/slide" Target="/ppt/slides/slide1.xml" Id="Rac25675969d04082" /><Relationship Type="http://schemas.openxmlformats.org/officeDocument/2006/relationships/slide" Target="/ppt/slides/slide2.xml" Id="Rbaa59e61af644d56" /><Relationship Type="http://schemas.openxmlformats.org/officeDocument/2006/relationships/slide" Target="/ppt/slides/slide3.xml" Id="Re686a3060712492e" /><Relationship Type="http://schemas.openxmlformats.org/officeDocument/2006/relationships/slide" Target="/ppt/slides/slide4.xml" Id="R8f794653b24d440c" /><Relationship Type="http://schemas.openxmlformats.org/officeDocument/2006/relationships/slide" Target="/ppt/slides/slide5.xml" Id="R74c5d32849924453" /><Relationship Type="http://schemas.openxmlformats.org/officeDocument/2006/relationships/slide" Target="/ppt/slides/slide6.xml" Id="Rf39d8816213842a7" /><Relationship Type="http://schemas.openxmlformats.org/officeDocument/2006/relationships/slide" Target="/ppt/slides/slide7.xml" Id="R33f6c8edfb604fc4" /><Relationship Type="http://schemas.openxmlformats.org/officeDocument/2006/relationships/slide" Target="/ppt/slides/slide8.xml" Id="Reda61371b21045d7" /><Relationship Type="http://schemas.openxmlformats.org/officeDocument/2006/relationships/slide" Target="/ppt/slides/slide9.xml" Id="Rf4a5a2e597c04af5" /><Relationship Type="http://schemas.openxmlformats.org/officeDocument/2006/relationships/slide" Target="/ppt/slides/slide10.xml" Id="R483a5eb79c8f4852" /><Relationship Type="http://schemas.openxmlformats.org/officeDocument/2006/relationships/slide" Target="/ppt/slides/slide11.xml" Id="R45180a4e106e49bb" /><Relationship Type="http://schemas.openxmlformats.org/officeDocument/2006/relationships/slide" Target="/ppt/slides/slide12.xml" Id="Rebb7af75598d4e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3b88d22f9f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117258e0e24b32" /><Relationship Type="http://schemas.openxmlformats.org/officeDocument/2006/relationships/notesMaster" Target="/ppt/notesMasters/notesMaster1.xml" Id="R00179ee53fcf4a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b8dc025e544626" /><Relationship Type="http://schemas.openxmlformats.org/officeDocument/2006/relationships/notesMaster" Target="/ppt/notesMasters/notesMaster1.xml" Id="R8adef3bb2ca949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c1280c23a4239" /><Relationship Type="http://schemas.openxmlformats.org/officeDocument/2006/relationships/notesMaster" Target="/ppt/notesMasters/notesMaster1.xml" Id="R9748babdd56e40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a6e96b0a2845a7" /><Relationship Type="http://schemas.openxmlformats.org/officeDocument/2006/relationships/notesMaster" Target="/ppt/notesMasters/notesMaster1.xml" Id="R597a8ea62b6242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d450805e444798" /><Relationship Type="http://schemas.openxmlformats.org/officeDocument/2006/relationships/notesMaster" Target="/ppt/notesMasters/notesMaster1.xml" Id="Re7bcd550f8f247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1f5e15955e4b52" /><Relationship Type="http://schemas.openxmlformats.org/officeDocument/2006/relationships/notesMaster" Target="/ppt/notesMasters/notesMaster1.xml" Id="R42afcd240a974f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655ce863dc46e8" /><Relationship Type="http://schemas.openxmlformats.org/officeDocument/2006/relationships/notesMaster" Target="/ppt/notesMasters/notesMaster1.xml" Id="Rcc898e2a375e43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277fa244f045b5" /><Relationship Type="http://schemas.openxmlformats.org/officeDocument/2006/relationships/notesMaster" Target="/ppt/notesMasters/notesMaster1.xml" Id="R1a0c219034f649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355bc9231d4f3e" /><Relationship Type="http://schemas.openxmlformats.org/officeDocument/2006/relationships/notesMaster" Target="/ppt/notesMasters/notesMaster1.xml" Id="Rb13efa94647547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5325e0285f4901" /><Relationship Type="http://schemas.openxmlformats.org/officeDocument/2006/relationships/notesMaster" Target="/ppt/notesMasters/notesMaster1.xml" Id="R5f69e83b731f4f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bf891280a840d0" /><Relationship Type="http://schemas.openxmlformats.org/officeDocument/2006/relationships/notesMaster" Target="/ppt/notesMasters/notesMaster1.xml" Id="R874d7251f49845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0fb610c800441d" /><Relationship Type="http://schemas.openxmlformats.org/officeDocument/2006/relationships/notesMaster" Target="/ppt/notesMasters/notesMaster1.xml" Id="Ra81d8f05b56f4a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33964bce94a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db8b73df5d4e6a" /><Relationship Type="http://schemas.openxmlformats.org/officeDocument/2006/relationships/slideLayout" Target="/ppt/slideLayouts/slideLayout1.xml" Id="Rb183a3c0783045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83a3c0783045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9343bbf3c404d" /><Relationship Type="http://schemas.openxmlformats.org/officeDocument/2006/relationships/notesSlide" Target="/ppt/notesSlides/notesSlide1.xml" Id="Rde6c2ed78d8b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5ddc615a94151" /><Relationship Type="http://schemas.openxmlformats.org/officeDocument/2006/relationships/notesSlide" Target="/ppt/notesSlides/notesSlide2.xml" Id="R0f547d457a5b42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b672785fd4afc" /><Relationship Type="http://schemas.openxmlformats.org/officeDocument/2006/relationships/notesSlide" Target="/ppt/notesSlides/notesSlide3.xml" Id="R68231e45c80441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1009762d14210" /><Relationship Type="http://schemas.openxmlformats.org/officeDocument/2006/relationships/notesSlide" Target="/ppt/notesSlides/notesSlide4.xml" Id="Rf6d005e2bf4249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2cf03d0bd4f75" /><Relationship Type="http://schemas.openxmlformats.org/officeDocument/2006/relationships/notesSlide" Target="/ppt/notesSlides/notesSlide5.xml" Id="R09cb6f0dcbeb45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5fdaceeea4d44" /><Relationship Type="http://schemas.openxmlformats.org/officeDocument/2006/relationships/notesSlide" Target="/ppt/notesSlides/notesSlide6.xml" Id="R32c2ca7d4c114c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e8bc1f1b942c6" /><Relationship Type="http://schemas.openxmlformats.org/officeDocument/2006/relationships/notesSlide" Target="/ppt/notesSlides/notesSlide7.xml" Id="Rcca2cae887294d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0df9a95a34cf5" /><Relationship Type="http://schemas.openxmlformats.org/officeDocument/2006/relationships/notesSlide" Target="/ppt/notesSlides/notesSlide8.xml" Id="Rd5d9943fa2e644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3a7e58fd24274" /><Relationship Type="http://schemas.openxmlformats.org/officeDocument/2006/relationships/notesSlide" Target="/ppt/notesSlides/notesSlide9.xml" Id="R7a46ecf43f4141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3248c142a4c50" /><Relationship Type="http://schemas.openxmlformats.org/officeDocument/2006/relationships/notesSlide" Target="/ppt/notesSlides/notesSlide10.xml" Id="R4ede0712d0d54d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889247a374e7b" /><Relationship Type="http://schemas.openxmlformats.org/officeDocument/2006/relationships/notesSlide" Target="/ppt/notesSlides/notesSlide11.xml" Id="R7fabbfc4b86543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85b40e3f04c21" /><Relationship Type="http://schemas.openxmlformats.org/officeDocument/2006/relationships/notesSlide" Target="/ppt/notesSlides/notesSlide12.xml" Id="R1020cbc06bc543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FC6B1-26CF-433E-A3D2-AE0A31BB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859F12-85A4-4228-A120-1CFDD52F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09342B-E111-46BA-92ED-C5C77380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AX CERTIFICATION AGENT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447DE-0236-461F-94B2-DBDD9507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AXCalib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54735-222A-4583-9C31-2D4BFAEA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8001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근거와 책임을 연결하는 두 단계 인증 워크플로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86DBD-8F6D-4E1A-9B5F-232533DA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7905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CFDC"/>
                </a:solidFill>
                <a:latin typeface="Noto Sans KR"/>
                <a:ea typeface="Noto Sans KR"/>
                <a:cs typeface="Noto Sans KR"/>
              </a:defRPr>
            </a:pPr>
            <a:r>
              <a:t>평가 초안은 재사용 가능한 pipeline이 만들고, 최종 결정은 고정된 revision 위에서 사람이 확정한다.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CCFD2-5C6A-40AB-8D07-673CE497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4478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A50034"/>
          </a:solidFill>
          <a:ln xmlns:a="http://schemas.openxmlformats.org/drawingml/2006/main" w="19050">
            <a:solidFill>
              <a:srgbClr val="FD31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B5B7F-4C9F-4F60-AB7C-A434FBFF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66800"/>
            <a:ext cx="144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P1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5E164-F415-4D2F-B14D-936FD3A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383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DDE5"/>
                </a:solidFill>
                <a:latin typeface="Noto Sans KR"/>
                <a:ea typeface="Noto Sans KR"/>
                <a:cs typeface="Noto Sans KR"/>
              </a:defRPr>
            </a:pPr>
            <a: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CD111-60B9-4C48-A24D-CA2AE8BB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33575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G1 검토 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8DC8B-7B11-41CF-BF3C-3360D36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A"/>
          </a:solidFill>
          <a:ln xmlns:a="http://schemas.openxmlformats.org/drawingml/2006/main" w="0">
            <a:solidFill>
              <a:srgbClr val="344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491D2-A706-4F07-9873-06B0D8FA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00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793B4-8A6C-45F9-9AE2-FFAF52E5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E7F0"/>
                </a:solidFill>
                <a:latin typeface="Noto Sans KR"/>
                <a:ea typeface="Noto Sans KR"/>
                <a:cs typeface="Noto Sans KR"/>
              </a:defRPr>
            </a:pPr>
            <a:r>
              <a:t>dossier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15141-7050-404A-B8D7-852DA849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EA8BA"/>
                </a:solidFill>
                <a:latin typeface="Noto Sans KR"/>
                <a:ea typeface="Noto Sans KR"/>
                <a:cs typeface="Noto Sans KR"/>
              </a:defRPr>
            </a:pPr>
            <a:r>
              <a:t>project_id별 단일 기준 파일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292FA-7190-43E9-9F9D-886CF84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62600"/>
            <a:ext cx="200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2F550-0259-443E-8800-39A85FA1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9817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E7F0"/>
                </a:solidFill>
                <a:latin typeface="Noto Sans KR"/>
                <a:ea typeface="Noto Sans KR"/>
                <a:cs typeface="Noto Sans KR"/>
              </a:defRPr>
            </a:pPr>
            <a:r>
              <a:t>evaluation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E5398-C03D-49AB-9B30-8538394A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200775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EA8BA"/>
                </a:solidFill>
                <a:latin typeface="Noto Sans KR"/>
                <a:ea typeface="Noto Sans KR"/>
                <a:cs typeface="Noto Sans KR"/>
              </a:defRPr>
            </a:pPr>
            <a:r>
              <a:t>등록심의 · 완료평가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1E219-9E16-4A25-9A5B-BB9875B9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62600"/>
            <a:ext cx="200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7C09C-5D17-48E7-9D0D-EBEE8E01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817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E7F0"/>
                </a:solidFill>
                <a:latin typeface="Noto Sans KR"/>
                <a:ea typeface="Noto Sans KR"/>
                <a:cs typeface="Noto Sans KR"/>
              </a:defRPr>
            </a:pPr>
            <a:r>
              <a:t>mandatory HITL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812CB-14DB-4AD0-B894-B2DD16CC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00775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EA8BA"/>
                </a:solidFill>
                <a:latin typeface="Noto Sans KR"/>
                <a:ea typeface="Noto Sans KR"/>
                <a:cs typeface="Noto Sans KR"/>
              </a:defRPr>
            </a:pPr>
            <a:r>
              <a:t>관리자 승인과 알림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AD1F4-B9B5-4212-BBDA-CE3B0458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626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B1782-5D57-4AAA-96D3-D775BE62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9817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E7F0"/>
                </a:solidFill>
                <a:latin typeface="Noto Sans KR"/>
                <a:ea typeface="Noto Sans KR"/>
                <a:cs typeface="Noto Sans KR"/>
              </a:defRPr>
            </a:pPr>
            <a:r>
              <a:t>modules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D27EB-712F-4288-B87A-51681832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200775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EA8BA"/>
                </a:solidFill>
                <a:latin typeface="Noto Sans KR"/>
                <a:ea typeface="Noto Sans KR"/>
                <a:cs typeface="Noto Sans KR"/>
              </a:defRPr>
            </a:pPr>
            <a:r>
              <a:t>M00–M13 delivery 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E8A2A-B738-44C4-A038-93858E9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A"/>
          </a:solidFill>
          <a:ln xmlns:a="http://schemas.openxmlformats.org/drawingml/2006/main" w="0">
            <a:solidFill>
              <a:srgbClr val="3440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38A60-CD1A-44BF-AFA0-ECECC030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7C8"/>
                </a:solidFill>
                <a:latin typeface="Noto Sans KR"/>
                <a:ea typeface="Noto Sans KR"/>
                <a:cs typeface="Noto Sans KR"/>
              </a:defRPr>
            </a:pPr>
            <a:r>
              <a:t>AXCalib workflow &amp; architecture | 2026-07-15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29353-E43F-475F-BE86-660C843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EB7C8"/>
                </a:solidFill>
                <a:latin typeface="Noto Sans KR"/>
                <a:ea typeface="Noto Sans KR"/>
                <a:cs typeface="Noto Sans KR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1700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6F1473-4497-48DD-9915-1B7251C6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862A83-10BD-4D8B-8304-AC2B98F0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99728-2C8E-4B3A-AB2E-1AB5D84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빠른 분석과 최종 책임은 서로 다른 레이어에 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A64A7-6D23-481E-8DF8-DD2D45C9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ACCELERATION PLANE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139B3-54AB-4C92-AD5C-24384E87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재사용 가능한 library와 pipeline이 분석 속도와 일관성을 높인다.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84A35-BF51-4579-BCBB-40B3C472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F5596-B9E3-4759-8342-3BB9FA95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495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schema · state machine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BFDAB-3C94-400C-8211-B0F2C67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A75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3948D-BD8F-438C-9ACE-B60FC862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495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evidence ·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42E95-03C7-4279-8211-D2A6631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00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2056F-B82D-4D07-9A91-F272AFD2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495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evaluation ·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C6149-7112-4CF7-9553-CF78B5EE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9D958-4530-4265-9099-CA96AFD1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59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script · CLI · API ·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0ACDC-3C9E-4CA8-BCC9-4A732770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33550"/>
            <a:ext cx="33909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0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A4F13-0939-4FC9-929E-E279ABFC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3355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42E57-2AEE-4C9C-B9FF-CDCA4CB8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2933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AXC-{project_id}.axc.yaml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03FF1-93B3-4F4B-87BD-53AB4C47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9350"/>
            <a:ext cx="2933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revision  ·  SHA-256  ·  schema_version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A7476-EFB4-4EC7-B186-11674368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293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876FC-2F42-4D5A-9204-68183FC2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908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등록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8DA13-81CE-4DBD-AC49-9F734EF1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385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목표 · KPI · 범위 · 기준 버전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19B4F-372F-4BD3-9B8F-42944AB7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293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9AA74-7A6E-4A83-8EA3-7E5AF1EC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수행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2600C-CDBD-49DC-AC56-90384045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진행 · 멘토 · 산출물 · KPI 변화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30BC7-6918-445B-9BD8-39D2BC79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293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F2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AFA17-BF8B-45EF-962B-C8231B0A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4820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평가와 결정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6714D4-3D33-4E82-9A6B-74A4ECFA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14900"/>
            <a:ext cx="2552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Agent 초안 ≠ 관리자 final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62A3A-1B98-46DF-8502-8871BEB6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0"/>
            <a:ext cx="2933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사용자가 편집하는 기준 파일은 하나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B3095-05D9-4A52-B70F-81218C6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RESPONSIBILITY PLANE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6B2D52-BB74-4F45-A9C6-9C41EB3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57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고정된 revision과 인용 근거 위에서 권한 있는 사람만 상태를 확정한다.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A8A1CE-0D66-415B-8410-D508DB8B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3257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D9F745-45C4-4527-A190-6E36ECDF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78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87CDB-BCC7-47D8-A95C-C2DDB2F6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76600"/>
            <a:ext cx="2057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criterion 판단 초안 + 근거 locator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4C04BB-C77A-4BE5-8BC1-B2A70092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3257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F2"/>
          </a:solidFill>
          <a:ln xmlns:a="http://schemas.openxmlformats.org/drawingml/2006/main" w="19050">
            <a:solidFill>
              <a:srgbClr val="A500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C26C4D-A61D-41FD-9151-C6099C3A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800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ADMIN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C18D2F-0A49-4B81-8EE3-CC41675A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338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승인 · 반려 · 보완요청 사유와 audit 이력 기록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B5C8E2-3A86-4B82-8488-524C5C7A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3257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모델은 인증을 단독 확정하지 않는다.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31C4E7-7248-4024-90DD-0D12B5FB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D64835-8D1C-4F8C-A18A-266CDEF7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AXCalib architecture baseline v0.3-p1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B45690-0694-45D1-AAA8-9626C250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217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C8D0D5-7749-44BB-9EBB-2BD1B97F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E2869F9-EE93-47B3-B9BF-26BA2C9B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ARCHITECTURE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29385-E29D-42A5-84C7-2C52AD33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업무 로직은 UI가 아니라 Python Library 안에만 존재한다.</a:t>
            </a:r>
          </a:p>
        </p:txBody>
      </p:sp>
      <p:sp>
        <p:nvSpPr>
          <p:cNvPr id="4" name="architecture-layer-1">
            <a:extLst xmlns:a="http://schemas.openxmlformats.org/drawingml/2006/main">
              <a:ext uri="{FF2B5EF4-FFF2-40B4-BE49-F238E27FC236}">
                <a16:creationId xmlns:a16="http://schemas.microsoft.com/office/drawing/2014/main" id="{E954AA5C-27A5-492E-90B7-13BE3BF7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28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3B76A-5F50-4C82-9300-3F323A42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5621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1.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5A788-DE15-44E1-A854-FB6C291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업무 로직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AEA91-548A-45FA-86EE-4530B73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192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CD9CD-1C2A-4A93-BF59-3C82A0FB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050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Python 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6531D-4BFB-4E65-AC86-B25999C9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192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8C8BC-E7DC-47B5-B0F1-C1C7B9C8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050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CLI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67DDE-D648-44CE-AB0D-9425D9E9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192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A1C5F-5E65-4619-B7B2-6BEA8987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9050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121D6-569A-43A1-9BB3-529BD88C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4BFE9-6517-4C75-B13F-C35D425F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E7354-FA04-4F41-818E-2ACAE264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192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0B470-19F3-4FCF-8863-91F17D22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9050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Web App</a:t>
            </a:r>
          </a:p>
        </p:txBody>
      </p:sp>
      <p:sp>
        <p:nvSpPr>
          <p:cNvPr id="17" name="architecture-layer-2">
            <a:extLst xmlns:a="http://schemas.openxmlformats.org/drawingml/2006/main">
              <a:ext uri="{FF2B5EF4-FFF2-40B4-BE49-F238E27FC236}">
                <a16:creationId xmlns:a16="http://schemas.microsoft.com/office/drawing/2014/main" id="{3A0B754A-4CF2-44C3-8FA0-258D0112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828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1486F-4DB8-4914-9FBB-B3D71B39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5621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2. Total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DDC7F-2EE6-4AA3-93E2-3A7C3183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분기 · 대기 · 재개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70023-F21E-4F42-9E59-A6A9B88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384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88FD7-0745-4FCC-9F72-2B1A8C19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241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Two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FDD16-0EDF-4478-8CB3-9954330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384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383C0-614D-446F-B806-155DD0EE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7241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24094-5A73-4EB2-9F36-067AA9EB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384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B8A9B-01A7-45FC-A956-AA466BDB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241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Reassessment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BF7E9-91DE-47A2-8F45-B9DB9F80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384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7D91C-6055-4C7B-AD89-9C19012A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Portfolio Batch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6BE58-186A-43CB-A6B2-5B737E60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384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3BC0C3-4C00-44DA-B4B8-73B3485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241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Benchmark</a:t>
            </a:r>
          </a:p>
        </p:txBody>
      </p:sp>
      <p:sp>
        <p:nvSpPr>
          <p:cNvPr id="30" name="architecture-layer-3">
            <a:extLst xmlns:a="http://schemas.openxmlformats.org/drawingml/2006/main">
              <a:ext uri="{FF2B5EF4-FFF2-40B4-BE49-F238E27FC236}">
                <a16:creationId xmlns:a16="http://schemas.microsoft.com/office/drawing/2014/main" id="{EAA9E46E-EEA3-495D-AC4B-2D67729D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828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41D0E-D324-4374-A525-32B02780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5621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3. Local Pipelines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560285-5623-493B-B9CD-582E5BD0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typed 업무 단위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25F23C-4E86-4946-B991-1F57A4D1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575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3366D7-96C8-4937-904A-A1322821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433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Dossier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503A70-26A2-4FB3-8C51-A698F02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575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1FC820-18EA-4B35-AD00-2524DC9D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433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43E25B-8150-4AD7-A9F0-201B8B9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575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2B98EE-0609-4B4A-B7F9-04482A80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433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Cases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991A53-3597-4836-9CF4-C855AAC8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575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5566F2-3058-4964-B3E3-D743CCED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433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Evaluation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FF83AF-C036-40B7-B5A9-F2EF2332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575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8D0681-7753-48A0-B53F-25AC22E0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433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Review</a:t>
            </a:r>
          </a:p>
        </p:txBody>
      </p:sp>
      <p:sp>
        <p:nvSpPr>
          <p:cNvPr id="43" name="architecture-layer-4">
            <a:extLst xmlns:a="http://schemas.openxmlformats.org/drawingml/2006/main">
              <a:ext uri="{FF2B5EF4-FFF2-40B4-BE49-F238E27FC236}">
                <a16:creationId xmlns:a16="http://schemas.microsoft.com/office/drawing/2014/main" id="{D6184739-0E04-4B5B-ADCF-93C9BE70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828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427088-799C-4288-8BB4-95FD4E9B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5621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4. Domain Modules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4A2B5A-2515-4D31-B883-95E9C655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불변조건과 Ports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EC998B-E7FB-41B6-91B6-9A4D774D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767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C8994F-CC61-427D-B5B1-C841D51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624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Core / Schema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DFE48B-6F3E-4359-9FD8-EE1246DC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767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25E84F-8B6A-4004-AF00-B1DFB7A4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3624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Dossier / Ingest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E0E0F0-E970-4E22-B36A-703307E5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767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6D1D7E-B2AA-46CE-9BAB-17627F93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3624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Retrieval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EF6E92-9D2E-4838-B9C2-EDBD8F3D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767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6D8B45-5D3C-4D73-BF7C-20DB6BEE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624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Evaluation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EC811E-E7E4-441E-90E0-840A9F9E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7672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F5EE9A-B123-41D6-BAAF-948F4D65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36245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Audit / Notice</a:t>
            </a:r>
          </a:p>
        </p:txBody>
      </p:sp>
      <p:sp>
        <p:nvSpPr>
          <p:cNvPr id="56" name="architecture-layer-5">
            <a:extLst xmlns:a="http://schemas.openxmlformats.org/drawingml/2006/main">
              <a:ext uri="{FF2B5EF4-FFF2-40B4-BE49-F238E27FC236}">
                <a16:creationId xmlns:a16="http://schemas.microsoft.com/office/drawing/2014/main" id="{97CBE899-BC92-4BD8-B0AF-D455D9D6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28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EDF2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1A7079-47E5-4542-ADE6-F78B6105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5621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5. Provider Adapters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4D6DB0-3B1F-468D-9132-5FDE58F5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교체 가능한 구현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BFF552-6268-4FDE-8B2E-7D2D9E30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0A273E-9DCA-4140-ABFE-D8358C50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1816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Storage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982FCA-2D9F-404F-9BD1-E3C0B0A4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958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BE1785-37B2-41E7-9C68-A9E9B6D2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1816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Parser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D7E9AE-6C14-442A-A8F0-3BA3D91F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958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741575-7B70-46BB-A13C-ABD704AD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1816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Search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5BFB70-9C43-4B74-B1EF-7C8D2CF2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958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C5D57B-D0E7-41DB-A709-8E3ED433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816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Model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5DBD72-D799-437D-A770-D074A060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95875"/>
            <a:ext cx="11049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D0EE53-BAB4-40CB-969D-F5AFCADC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181600"/>
            <a:ext cx="93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Notification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D8F434-CBF8-4CE8-9789-070B8FED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343150" cy="392430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130C84-7BAF-4AB0-87F5-790D257E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952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A479BA-D4AF-44A8-B254-3D019425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43100"/>
            <a:ext cx="1771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절대 불변조건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709D62-B41E-446B-B1D7-3F4A548D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06A"/>
          </a:solidFill>
          <a:ln xmlns:a="http://schemas.openxmlformats.org/drawingml/2006/main" w="9525">
            <a:solidFill>
              <a:srgbClr val="43506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13A305-6463-4FD9-B443-00CFD220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717E70-E30A-462F-8FA9-C72C7ACE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158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관리자 HITL 없이 final 전이 금지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148F85-CB29-4847-B8C1-60A1E67E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05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A0625A-EE53-4BD8-A805-0B67B6B9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28925"/>
            <a:ext cx="158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승인요청 알림 실패 시 fail-closed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9570775-F223-41C2-BAE9-6ACBBFC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8AD6151-6C7F-499F-A728-7C7D7B7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81350"/>
            <a:ext cx="158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등록 승인 전 수행 시작 금지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AEA1D7-3150-4095-A9B2-8EFB33A2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3C91CE-683A-4DB9-B29E-62420479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33775"/>
            <a:ext cx="158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revision · snapshot · stale 검증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D7391B8-3578-40B2-B354-9FCB49B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4272B99-7E6C-4958-90C3-AEEF4871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86200"/>
            <a:ext cx="158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근거 없으면 insufficient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8062708-DBBB-45F5-BC75-07A11C8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A2F558F-F3FF-41DE-A90E-D976DD02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38625"/>
            <a:ext cx="158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API/Web에 domain 로직 복제 금지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CE49E96-8EC6-488E-B965-E92F5F2C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05350"/>
            <a:ext cx="16954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273249"/>
          </a:solidFill>
          <a:ln xmlns:a="http://schemas.openxmlformats.org/drawingml/2006/main" w="9525">
            <a:solidFill>
              <a:srgbClr val="43506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0D84A2-C60E-4303-BC9D-34542A0D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19650"/>
            <a:ext cx="139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현재 구현 상태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21D2677-1890-4FE4-AB81-DD36A89E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6730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DCE7"/>
                </a:solidFill>
                <a:latin typeface="Noto Sans KR"/>
                <a:ea typeface="Noto Sans KR"/>
                <a:cs typeface="Noto Sans KR"/>
              </a:defRPr>
            </a:pPr>
            <a:r>
              <a:t>P1 offline reference Pipeline kernel 미구현</a:t>
            </a:r>
          </a:p>
        </p:txBody>
      </p:sp>
      <p:cxnSp>
        <p:nvCxnSpPr>
          <p:cNvPr id="88" name="layer-dependency-1"/>
          <p:cNvCxnSpPr>
            <a:stCxn xmlns:a="http://schemas.openxmlformats.org/drawingml/2006/main" id="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752975" y="2362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arrow" w="med" len="med"/>
          </a:ln>
        </p:spPr>
      </p:cxnSp>
      <p:cxnSp>
        <p:nvCxnSpPr>
          <p:cNvPr id="89" name="layer-dependency-2"/>
          <p:cNvCxnSpPr>
            <a:stCxn xmlns:a="http://schemas.openxmlformats.org/drawingml/2006/main" id="1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752975" y="31813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arrow" w="med" len="med"/>
          </a:ln>
        </p:spPr>
      </p:cxnSp>
      <p:cxnSp>
        <p:nvCxnSpPr>
          <p:cNvPr id="90" name="layer-dependency-3"/>
          <p:cNvCxnSpPr>
            <a:stCxn xmlns:a="http://schemas.openxmlformats.org/drawingml/2006/main" id="30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4752975" y="40005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arrow" w="med" len="med"/>
          </a:ln>
        </p:spPr>
      </p:cxnSp>
      <p:cxnSp>
        <p:nvCxnSpPr>
          <p:cNvPr id="91" name="layer-dependency-4"/>
          <p:cNvCxnSpPr>
            <a:stCxn xmlns:a="http://schemas.openxmlformats.org/drawingml/2006/main" id="43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4752975" y="48196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A58EBBB-A752-4764-86D7-1D134118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828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의존 방향: Interface → Workflow → Pipeline → Domain → Adapter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FCA73E0-07BA-42E8-802A-B2C4E827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D5C121C-445F-49BE-BAC9-BA646EB2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Source: workflow-blueprint.md §1 | editable architecture map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7D0B02-74CE-4C9C-A69A-8AEA74A9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24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6F3DC04-B1E0-4027-AB89-2137EE94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D42AB30-7B79-45D2-B486-8BA86614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OFFICIAL TWO-GATE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C16A4-0827-4DD6-A318-ECE032E5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등록 승인 전 실행은 열리지 않고, 완료 승인 전 인증은 끝나지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86E15-FE5D-4EC4-AE8F-8CD8C554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2880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GATE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78087-2523-4080-B7D2-408513D5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14550"/>
            <a:ext cx="381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45808-BF54-4180-A8F4-A1BA07E6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2880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GATE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1F8F3-A373-400E-8821-1918E9B7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381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1168AB93-6D9E-436A-9BBC-EF9C2E48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CA859-0A2C-4891-922B-9479F542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등록 제출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3E1BE3D4-BFEE-45CD-8ECC-DE685029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5B5E2-2CF0-436B-ADC5-21C9B2C0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snapshot freeze</a:t>
            </a:r>
          </a:p>
        </p:txBody>
      </p:sp>
      <p:sp>
        <p:nvSpPr>
          <p:cNvPr id="12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F16559F9-3FEA-4D76-B287-F8B3A3B1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3B801-ADD6-42F0-9403-1245454D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평가 + 유사사례</a:t>
            </a:r>
          </a:p>
        </p:txBody>
      </p:sp>
      <p:sp>
        <p:nvSpPr>
          <p:cNvPr id="14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7881BE34-00EF-43D3-80A4-2A2CD5AB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D5BB2-A0D2-4949-9082-2ED328C8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심의 리포트</a:t>
            </a:r>
          </a:p>
        </p:txBody>
      </p:sp>
      <p:sp>
        <p:nvSpPr>
          <p:cNvPr id="16" name="workflow-node-5">
            <a:extLst xmlns:a="http://schemas.openxmlformats.org/drawingml/2006/main">
              <a:ext uri="{FF2B5EF4-FFF2-40B4-BE49-F238E27FC236}">
                <a16:creationId xmlns:a16="http://schemas.microsoft.com/office/drawing/2014/main" id="{857C5C77-349E-4E4C-BC32-5A7F2CE3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EDF2"/>
          </a:solidFill>
          <a:ln xmlns:a="http://schemas.openxmlformats.org/drawingml/2006/main" w="19050">
            <a:solidFill>
              <a:srgbClr val="A500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34F6F-5FD8-4FC5-B925-BA6289CD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등록 HITL</a:t>
            </a:r>
          </a:p>
        </p:txBody>
      </p:sp>
      <p:sp>
        <p:nvSpPr>
          <p:cNvPr id="18" name="workflow-node-6">
            <a:extLst xmlns:a="http://schemas.openxmlformats.org/drawingml/2006/main">
              <a:ext uri="{FF2B5EF4-FFF2-40B4-BE49-F238E27FC236}">
                <a16:creationId xmlns:a16="http://schemas.microsoft.com/office/drawing/2014/main" id="{26BA33C8-87B9-4DED-BF5A-403D4B1A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5007D-59B4-433F-9252-6434F17E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과제 수행</a:t>
            </a:r>
          </a:p>
        </p:txBody>
      </p:sp>
      <p:sp>
        <p:nvSpPr>
          <p:cNvPr id="20" name="workflow-node-7">
            <a:extLst xmlns:a="http://schemas.openxmlformats.org/drawingml/2006/main">
              <a:ext uri="{FF2B5EF4-FFF2-40B4-BE49-F238E27FC236}">
                <a16:creationId xmlns:a16="http://schemas.microsoft.com/office/drawing/2014/main" id="{D7BC497A-379F-44C2-800C-BFCE11D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70E22-4C12-418F-9762-8AE2A3A0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완료 제출</a:t>
            </a:r>
          </a:p>
        </p:txBody>
      </p:sp>
      <p:sp>
        <p:nvSpPr>
          <p:cNvPr id="22" name="workflow-node-8">
            <a:extLst xmlns:a="http://schemas.openxmlformats.org/drawingml/2006/main">
              <a:ext uri="{FF2B5EF4-FFF2-40B4-BE49-F238E27FC236}">
                <a16:creationId xmlns:a16="http://schemas.microsoft.com/office/drawing/2014/main" id="{3FB2C738-3697-41B3-A532-08CC9D74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5FB4FA-8B0B-4E54-8D36-581B8A92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baseline 대조 평가</a:t>
            </a:r>
          </a:p>
        </p:txBody>
      </p:sp>
      <p:sp>
        <p:nvSpPr>
          <p:cNvPr id="24" name="workflow-node-9">
            <a:extLst xmlns:a="http://schemas.openxmlformats.org/drawingml/2006/main">
              <a:ext uri="{FF2B5EF4-FFF2-40B4-BE49-F238E27FC236}">
                <a16:creationId xmlns:a16="http://schemas.microsoft.com/office/drawing/2014/main" id="{7496D2C6-BF5F-469D-BBE1-8177E29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EDF2"/>
          </a:solidFill>
          <a:ln xmlns:a="http://schemas.openxmlformats.org/drawingml/2006/main" w="19050">
            <a:solidFill>
              <a:srgbClr val="A500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4BC4E-E01C-4CA1-AF98-3AC66F9F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완료 HITL</a:t>
            </a:r>
          </a:p>
        </p:txBody>
      </p:sp>
      <p:sp>
        <p:nvSpPr>
          <p:cNvPr id="26" name="workflow-node-10">
            <a:extLst xmlns:a="http://schemas.openxmlformats.org/drawingml/2006/main">
              <a:ext uri="{FF2B5EF4-FFF2-40B4-BE49-F238E27FC236}">
                <a16:creationId xmlns:a16="http://schemas.microsoft.com/office/drawing/2014/main" id="{A2593D9C-B4BB-4DB7-BD04-FC2EBA56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7241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AAC8A-DBD4-4BE0-B73B-D03B1E75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완료 판정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A1BD13-3B5F-4D0A-A21C-A963DBD1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48100"/>
            <a:ext cx="175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관리자 승인 · 필수 알림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76C2D-8CAB-4921-A4D0-484CF9F8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48100"/>
            <a:ext cx="175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관리자 승인 · 필수 알림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EA22AD-88B7-4FE6-B302-157DEF40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62450"/>
            <a:ext cx="2495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37E859-6C49-4CB8-AD4C-AA1A0B5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57700"/>
            <a:ext cx="2152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반려 → 종료 보완 → revision 갱신 후 재심의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A731A2-C0B3-4CF3-95D5-932BC7BC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495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1ACFAF-8104-4128-8EE0-C60791A2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57700"/>
            <a:ext cx="2152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미통과 → 종료 보완 → 완료 제출부터 재개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C0A52A-0E65-4F7A-B45B-9C0B3CF9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WAIT 노드는 Agent나 외부 모델이 해제할 수 없다.</a:t>
            </a:r>
          </a:p>
        </p:txBody>
      </p:sp>
      <p:cxnSp>
        <p:nvCxnSpPr>
          <p:cNvPr id="35" name="workflow-connector-1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485900" y="3162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36" name="workflow-connector-2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71750" y="3162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37" name="workflow-connector-3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657600" y="3162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38" name="workflow-connector-4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43450" y="3162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39" name="workflow-connector-5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29300" y="3162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0034"/>
            </a:solidFill>
            <a:prstDash val="solid"/>
            <a:tailEnd type="arrow" w="med" len="med"/>
          </a:ln>
        </p:spPr>
      </p:cxnSp>
      <p:cxnSp>
        <p:nvCxnSpPr>
          <p:cNvPr id="40" name="workflow-connector-6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162800" y="3162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41" name="workflow-connector-7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248650" y="3162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42" name="workflow-connector-8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4500" y="3162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43" name="workflow-connector-9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0420350" y="3162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0034"/>
            </a:solidFill>
            <a:prstDash val="solid"/>
            <a:tailEnd type="arrow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7FCC42-A46C-4068-B815-EC0DD465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E7F689-6011-40F9-A354-94DDB502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Source: docs/architecture/workflow-blueprint.md §2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74DA79-7FD0-4172-96B9-AAA58440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3869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B2099B0-FAC9-4A40-B7CC-34048DAA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274189-522E-4CFE-A94C-8B8E0B23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REGISTRATION REVIEW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AA75D-4871-484C-848A-9475471B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Agent는 초안을 만들고, 관리자는 대상 revision을 확인해 결정한다.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44A65-F708-4AAC-9007-D352AB51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992B8-380F-4C3B-9E4A-FE38A032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5621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441B0-F39B-4CA0-B652-4551457B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21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과제 수행자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B7990-C694-494B-B674-FC209732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289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4E395-75B9-458A-87E6-2E6661E7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1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3A5B3-3601-4E89-A6CF-A598A310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052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D77CA-330B-45B0-8191-04224F27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21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AXCalib Library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1E21A-C1CD-4A59-8DFF-C2F16AB9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815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1F533-7111-4E87-8C5D-8505C2A0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21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관리자</a:t>
            </a:r>
          </a:p>
        </p:txBody>
      </p:sp>
      <p:sp>
        <p:nvSpPr>
          <p:cNvPr id="13" name="reg-command">
            <a:extLst xmlns:a="http://schemas.openxmlformats.org/drawingml/2006/main">
              <a:ext uri="{FF2B5EF4-FFF2-40B4-BE49-F238E27FC236}">
                <a16:creationId xmlns:a16="http://schemas.microsoft.com/office/drawing/2014/main" id="{6FE37058-64E5-4D74-B858-710B9743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81200"/>
            <a:ext cx="139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E4608-CAC1-4AB1-82B7-17D3FD76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1455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등록 command</a:t>
            </a:r>
          </a:p>
        </p:txBody>
      </p:sp>
      <p:sp>
        <p:nvSpPr>
          <p:cNvPr id="15" name="workflow-start">
            <a:extLst xmlns:a="http://schemas.openxmlformats.org/drawingml/2006/main">
              <a:ext uri="{FF2B5EF4-FFF2-40B4-BE49-F238E27FC236}">
                <a16:creationId xmlns:a16="http://schemas.microsoft.com/office/drawing/2014/main" id="{F27D12F4-EB7E-43E8-B08F-33F6A41A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39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55A84-2EF1-42DA-814B-24CE06A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workflow start</a:t>
            </a:r>
          </a:p>
        </p:txBody>
      </p:sp>
      <p:sp>
        <p:nvSpPr>
          <p:cNvPr id="17" name="freeze">
            <a:extLst xmlns:a="http://schemas.openxmlformats.org/drawingml/2006/main">
              <a:ext uri="{FF2B5EF4-FFF2-40B4-BE49-F238E27FC236}">
                <a16:creationId xmlns:a16="http://schemas.microsoft.com/office/drawing/2014/main" id="{9775D2FE-E9E2-40FA-871D-9721C0E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20CDD-7E11-446E-90BA-E21DDB84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67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freeze</a:t>
            </a:r>
          </a:p>
        </p:txBody>
      </p:sp>
      <p:sp>
        <p:nvSpPr>
          <p:cNvPr id="19" name="evidence-rag">
            <a:extLst xmlns:a="http://schemas.openxmlformats.org/drawingml/2006/main">
              <a:ext uri="{FF2B5EF4-FFF2-40B4-BE49-F238E27FC236}">
                <a16:creationId xmlns:a16="http://schemas.microsoft.com/office/drawing/2014/main" id="{B5EBD528-DA09-4A5A-94EC-97A0D1DC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33800"/>
            <a:ext cx="14668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9BBB7-DB0B-4EFF-BBFB-E16B0285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671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evidence · RAG</a:t>
            </a:r>
          </a:p>
        </p:txBody>
      </p:sp>
      <p:sp>
        <p:nvSpPr>
          <p:cNvPr id="21" name="evaluation-draft">
            <a:extLst xmlns:a="http://schemas.openxmlformats.org/drawingml/2006/main">
              <a:ext uri="{FF2B5EF4-FFF2-40B4-BE49-F238E27FC236}">
                <a16:creationId xmlns:a16="http://schemas.microsoft.com/office/drawing/2014/main" id="{4FD0CBCB-8410-4DE3-9B08-6B3EBF17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3380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3C701-7995-4915-83AB-6908D9DA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평가 초안</a:t>
            </a:r>
          </a:p>
        </p:txBody>
      </p:sp>
      <p:sp>
        <p:nvSpPr>
          <p:cNvPr id="23" name="review-outbox">
            <a:extLst xmlns:a="http://schemas.openxmlformats.org/drawingml/2006/main">
              <a:ext uri="{FF2B5EF4-FFF2-40B4-BE49-F238E27FC236}">
                <a16:creationId xmlns:a16="http://schemas.microsoft.com/office/drawing/2014/main" id="{AF0C64F8-CCFF-4789-800E-12182C09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5750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EDF2"/>
          </a:solidFill>
          <a:ln xmlns:a="http://schemas.openxmlformats.org/drawingml/2006/main" w="19050">
            <a:solidFill>
              <a:srgbClr val="A500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74730-4181-40A5-9801-2B8BBD21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908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review + outbox</a:t>
            </a:r>
          </a:p>
        </p:txBody>
      </p:sp>
      <p:sp>
        <p:nvSpPr>
          <p:cNvPr id="25" name="admin-decision">
            <a:extLst xmlns:a="http://schemas.openxmlformats.org/drawingml/2006/main">
              <a:ext uri="{FF2B5EF4-FFF2-40B4-BE49-F238E27FC236}">
                <a16:creationId xmlns:a16="http://schemas.microsoft.com/office/drawing/2014/main" id="{316B07C7-14D6-4546-95FC-F503995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495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50034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B36E9-110B-4F27-94B0-260F7F2A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승인 · 반려 · 보완요청 + rationale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576AE3-1469-4AA0-97DB-0BF71320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907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2A9389-B3EC-43AA-A708-0616FCCD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670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25E4C5-EEA0-4A68-A5EF-EBA17F0D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64E74C-C68C-4C24-A189-0FF7338F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433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DA52DC-28AA-458E-822A-CCF365A4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433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202F57-A317-4B20-91B6-311B9F4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670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917274-B5A4-49B7-92D5-442386E7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A7B780-3A27-42AB-A1A2-1F1A8E07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6245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Agent output  —  structured draft + evidence locators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DCABF4-0771-42C5-A1F1-0137EBF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CDCB0B-A15E-4977-A087-519F0F04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95950"/>
            <a:ext cx="796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outbox event가 원자적으로 기록되지 않으면 waiting_human으로 진입하지 않는다.</a:t>
            </a:r>
          </a:p>
        </p:txBody>
      </p:sp>
      <p:cxnSp>
        <p:nvCxnSpPr>
          <p:cNvPr id="37" name="sequence-1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152775" y="2457450"/>
            <a:ext cx="17145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cxnSp>
        <p:nvCxnSpPr>
          <p:cNvPr id="38" name="sequence-2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867275" y="3333750"/>
            <a:ext cx="16192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</a:ln>
        </p:spPr>
      </p:cxnSp>
      <p:cxnSp>
        <p:nvCxnSpPr>
          <p:cNvPr id="39" name="sequence-3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86600" y="3971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8A75"/>
            </a:solidFill>
            <a:prstDash val="solid"/>
          </a:ln>
        </p:spPr>
      </p:cxnSp>
      <p:cxnSp>
        <p:nvCxnSpPr>
          <p:cNvPr id="40" name="sequence-4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839200" y="3971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8A75"/>
            </a:solidFill>
            <a:prstDash val="solid"/>
          </a:ln>
        </p:spPr>
      </p:cxnSp>
      <p:cxnSp>
        <p:nvCxnSpPr>
          <p:cNvPr id="41" name="sequence-5"/>
          <p:cNvCxnSpPr>
            <a:stCxn xmlns:a="http://schemas.openxmlformats.org/drawingml/2006/main" id="21" idx="3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10325100" y="3333750"/>
            <a:ext cx="428625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0034"/>
            </a:solidFill>
            <a:prstDash val="solid"/>
          </a:ln>
        </p:spPr>
      </p:cxnSp>
      <p:cxnSp>
        <p:nvCxnSpPr>
          <p:cNvPr id="42" name="sequence-6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10106025" y="3333750"/>
            <a:ext cx="64770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0034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F7A863-DD2D-4AA6-9A9F-7CCE392E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939DAD-41B8-4FEF-853F-3E62D227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Source: workflow-blueprint.md §3 | notification is fail-closed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1081DF-F486-4F3D-915F-AF51CA62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36205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D72F4D7-1962-4868-B304-4CF73FF2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53D049A-8971-41D9-A46F-C821BA28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COMPLETION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C1A04-2642-42AF-9C62-9DFF9709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완료평가는 현재 산출물만 보지 않고, 등록 당시 약속과 대조한다.</a:t>
            </a:r>
          </a:p>
        </p:txBody>
      </p:sp>
      <p:sp>
        <p:nvSpPr>
          <p:cNvPr id="4" name="completion-input-pair">
            <a:extLst xmlns:a="http://schemas.openxmlformats.org/drawingml/2006/main">
              <a:ext uri="{FF2B5EF4-FFF2-40B4-BE49-F238E27FC236}">
                <a16:creationId xmlns:a16="http://schemas.microsoft.com/office/drawing/2014/main" id="{AA898726-690E-4676-BDF1-4082126A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615315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DB203-75F4-4580-8ED9-1B78DEF8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IMMUTABLE INPUT A</a:t>
            </a:r>
          </a:p>
        </p:txBody>
      </p:sp>
      <p:sp>
        <p:nvSpPr>
          <p:cNvPr id="6" name="registration-baseline">
            <a:extLst xmlns:a="http://schemas.openxmlformats.org/drawingml/2006/main">
              <a:ext uri="{FF2B5EF4-FFF2-40B4-BE49-F238E27FC236}">
                <a16:creationId xmlns:a16="http://schemas.microsoft.com/office/drawing/2014/main" id="{34CC172F-81FF-4107-8223-B71FED23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781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962F5-5374-47A7-9E4B-128702C7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324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승인된 등록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DF751-A309-4722-8DC7-B5F105A6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2479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• 목표와 문제정의 • KPI와 측정방법 • 승인된 범위 • rubric / checklist 버전 • registration snapshot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E2269-3AD1-42F3-8927-D5680536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registration_approved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59F33-D9FC-4DF7-9FE2-A74AB942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669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IMMUTABLE INPUT B</a:t>
            </a:r>
          </a:p>
        </p:txBody>
      </p:sp>
      <p:sp>
        <p:nvSpPr>
          <p:cNvPr id="11" name="execution-evidence">
            <a:extLst xmlns:a="http://schemas.openxmlformats.org/drawingml/2006/main">
              <a:ext uri="{FF2B5EF4-FFF2-40B4-BE49-F238E27FC236}">
                <a16:creationId xmlns:a16="http://schemas.microsoft.com/office/drawing/2014/main" id="{06240F58-E328-45F1-8CD2-C6F66526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2781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4"/>
          </a:solidFill>
          <a:ln xmlns:a="http://schemas.openxmlformats.org/drawingml/2006/main" w="19050">
            <a:solidFill>
              <a:srgbClr val="1E8A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CAAFA-A4B2-4EC8-9ACA-F0A26D20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2324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누적된 수행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DC3B9-B7C8-4DAE-974A-5BBB3609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14650"/>
            <a:ext cx="22479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• 진행 revision 이력 • 멘토 기록과 승인 • 산출물 hash / URI • KPI 실제값과 변경사유 • completion snapshot hash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B8290-F9AB-4FB4-B542-3AC3DA03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9580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evidence locators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FCE1D-6E0B-4902-879D-0B3B5C0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57550"/>
            <a:ext cx="28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+</a:t>
            </a:r>
          </a:p>
        </p:txBody>
      </p:sp>
      <p:sp>
        <p:nvSpPr>
          <p:cNvPr id="16" name="baseline-diff">
            <a:extLst xmlns:a="http://schemas.openxmlformats.org/drawingml/2006/main">
              <a:ext uri="{FF2B5EF4-FFF2-40B4-BE49-F238E27FC236}">
                <a16:creationId xmlns:a16="http://schemas.microsoft.com/office/drawing/2014/main" id="{40E9A9F1-C9AC-4915-AABE-3095B644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1676400" cy="15430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973E3-D444-465F-8636-D9143B00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137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BASELINE DIFF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05A9B-112B-47A8-9009-53B129C1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38550"/>
            <a:ext cx="1371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AD2DF"/>
                </a:solidFill>
                <a:latin typeface="Noto Sans KR"/>
                <a:ea typeface="Noto Sans KR"/>
                <a:cs typeface="Noto Sans KR"/>
              </a:defRPr>
            </a:pPr>
            <a:r>
              <a:t>달성 · 변경 · 미충족 근거 부족 분리</a:t>
            </a:r>
          </a:p>
        </p:txBody>
      </p:sp>
      <p:sp>
        <p:nvSpPr>
          <p:cNvPr id="19" name="completion-report">
            <a:extLst xmlns:a="http://schemas.openxmlformats.org/drawingml/2006/main">
              <a:ext uri="{FF2B5EF4-FFF2-40B4-BE49-F238E27FC236}">
                <a16:creationId xmlns:a16="http://schemas.microsoft.com/office/drawing/2014/main" id="{46866437-B207-428A-80CB-0864D4C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6573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0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82662-8CEC-4006-BE5B-68939EB5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1352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완료평가 심의 결과 초안</a:t>
            </a:r>
          </a:p>
        </p:txBody>
      </p:sp>
      <p:sp>
        <p:nvSpPr>
          <p:cNvPr id="21" name="completion-admin-hitl">
            <a:extLst xmlns:a="http://schemas.openxmlformats.org/drawingml/2006/main">
              <a:ext uri="{FF2B5EF4-FFF2-40B4-BE49-F238E27FC236}">
                <a16:creationId xmlns:a16="http://schemas.microsoft.com/office/drawing/2014/main" id="{2B9D2F1E-A740-45F4-9770-7688A36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16573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A50034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C9D6A-2FE7-4CFE-B4FE-6F091003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10000"/>
            <a:ext cx="13525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ADMIN HITL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3A97B-AD28-48BB-8077-DA4CD90E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95750"/>
            <a:ext cx="1352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accepted not_accepted needs_changes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FD739-16D7-453A-83C7-0AE35A96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054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F275C-5623-419B-8DF0-F6A9A2B8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5780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멘토가 배정됐다면 완료 제출 전 mentor 승인 필수</a:t>
            </a:r>
          </a:p>
        </p:txBody>
      </p:sp>
      <p:cxnSp>
        <p:nvCxnSpPr>
          <p:cNvPr id="26" name="inputs-to-diff"/>
          <p:cNvCxnSpPr>
            <a:stCxn xmlns:a="http://schemas.openxmlformats.org/drawingml/2006/main" id="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648450" y="3495675"/>
            <a:ext cx="3619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27" name="diff-to-report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686800" y="2771775"/>
            <a:ext cx="36195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2033"/>
            </a:solidFill>
            <a:prstDash val="solid"/>
          </a:ln>
        </p:spPr>
      </p:cxnSp>
      <p:cxnSp>
        <p:nvCxnSpPr>
          <p:cNvPr id="28" name="report-to-admin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877425" y="32194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5003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DFB70C-3111-4D32-9E5C-3A8EF7B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AE8615-DE38-4BF5-87B5-1B479D54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Source: WORK_SPEC / two_gate_pipeline | approved baseline is mandatory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79BC63-6E92-4A2A-8BF1-8AA24843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8270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8E92999-AD64-4C26-B11B-D6525CE7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55BDDA-9F5E-4817-A1F1-DDF7FAD2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LOCAL PIPELINE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FFF96-8FEC-48AE-9793-C53F3632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국소 pipeline은 하나의 업무결과와 모든 실패상태를 타입으로 닫는다.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EB47F-D151-4CE2-ADDD-1B8FF4C1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INPUT ENVELOPE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4B5A2-9501-443A-B8AA-366DC42D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628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D0862-2C79-4D5F-993C-D4EB3B1D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17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Typed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F75A6-E4EB-4B30-A9FF-E52C9A97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pipeline별 Pydantic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E1C41-CF5C-4094-8A23-7E7198E8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FF"/>
          </a:solidFill>
          <a:ln xmlns:a="http://schemas.openxmlformats.org/drawingml/2006/main" w="9525">
            <a:solidFill>
              <a:srgbClr val="B9C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49B3B-0147-4642-82E1-9641C258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17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Immutable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91E16-7B61-4AC0-AD77-76C34D1A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run · actor · revision · versions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C34AD-A79C-43C5-8348-F7B79526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BFF"/>
          </a:solidFill>
          <a:ln xmlns:a="http://schemas.openxmlformats.org/drawingml/2006/main" w="9525">
            <a:solidFill>
              <a:srgbClr val="B9C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8EBC3-812D-4243-A470-18FDD105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171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Injected 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A1F0C-8E3C-4F42-A283-83BE5335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FS · retrieval · model · notifier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DBF2A-62E2-4715-98F4-B80441F8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6690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ONE USE CASE</a:t>
            </a:r>
          </a:p>
        </p:txBody>
      </p:sp>
      <p:sp>
        <p:nvSpPr>
          <p:cNvPr id="15" name="pipeline-node-1">
            <a:extLst xmlns:a="http://schemas.openxmlformats.org/drawingml/2006/main">
              <a:ext uri="{FF2B5EF4-FFF2-40B4-BE49-F238E27FC236}">
                <a16:creationId xmlns:a16="http://schemas.microsoft.com/office/drawing/2014/main" id="{8E03CA6C-04E6-4C62-A3C0-D8E27F42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1257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0F508-0F3E-459C-BF25-8CC83675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06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preflight</a:t>
            </a:r>
          </a:p>
        </p:txBody>
      </p:sp>
      <p:sp>
        <p:nvSpPr>
          <p:cNvPr id="17" name="pipeline-node-2">
            <a:extLst xmlns:a="http://schemas.openxmlformats.org/drawingml/2006/main">
              <a:ext uri="{FF2B5EF4-FFF2-40B4-BE49-F238E27FC236}">
                <a16:creationId xmlns:a16="http://schemas.microsoft.com/office/drawing/2014/main" id="{4017D109-C830-44AB-A1CF-91559138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257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3C365-8F8A-4603-8002-3848A98F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106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deterministic steps</a:t>
            </a:r>
          </a:p>
        </p:txBody>
      </p:sp>
      <p:sp>
        <p:nvSpPr>
          <p:cNvPr id="19" name="pipeline-node-3">
            <a:extLst xmlns:a="http://schemas.openxmlformats.org/drawingml/2006/main">
              <a:ext uri="{FF2B5EF4-FFF2-40B4-BE49-F238E27FC236}">
                <a16:creationId xmlns:a16="http://schemas.microsoft.com/office/drawing/2014/main" id="{0ADC1F7F-A349-4C58-BEDF-1EDB6EF4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1257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C9EEA-9E1D-4E3C-80F8-241EA1EA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106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port calls</a:t>
            </a:r>
          </a:p>
        </p:txBody>
      </p:sp>
      <p:sp>
        <p:nvSpPr>
          <p:cNvPr id="21" name="pipeline-node-4">
            <a:extLst xmlns:a="http://schemas.openxmlformats.org/drawingml/2006/main">
              <a:ext uri="{FF2B5EF4-FFF2-40B4-BE49-F238E27FC236}">
                <a16:creationId xmlns:a16="http://schemas.microsoft.com/office/drawing/2014/main" id="{B5F0BE00-05E7-432C-A3D0-969DB8D1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1257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D08CC-B029-41A9-BAC3-9683F703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106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output validation</a:t>
            </a:r>
          </a:p>
        </p:txBody>
      </p:sp>
      <p:sp>
        <p:nvSpPr>
          <p:cNvPr id="23" name="pipeline-node-5">
            <a:extLst xmlns:a="http://schemas.openxmlformats.org/drawingml/2006/main">
              <a:ext uri="{FF2B5EF4-FFF2-40B4-BE49-F238E27FC236}">
                <a16:creationId xmlns:a16="http://schemas.microsoft.com/office/drawing/2014/main" id="{6E5CF3EF-7CA0-4AFD-B290-147245D1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257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17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98C8C-A11F-4C24-BD75-CC5BE85A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95600"/>
            <a:ext cx="106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PipelineRun</a:t>
            </a:r>
          </a:p>
        </p:txBody>
      </p:sp>
      <p:cxnSp>
        <p:nvCxnSpPr>
          <p:cNvPr id="25" name="pipeline-flow-1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010150" y="31813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8A75"/>
            </a:solidFill>
            <a:prstDash val="solid"/>
            <a:tailEnd type="arrow" w="med" len="med"/>
          </a:ln>
        </p:spPr>
      </p:cxnSp>
      <p:cxnSp>
        <p:nvCxnSpPr>
          <p:cNvPr id="26" name="pipeline-flow-2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496050" y="31813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8A75"/>
            </a:solidFill>
            <a:prstDash val="solid"/>
            <a:tailEnd type="arrow" w="med" len="med"/>
          </a:ln>
        </p:spPr>
      </p:cxnSp>
      <p:cxnSp>
        <p:nvCxnSpPr>
          <p:cNvPr id="27" name="pipeline-flow-3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981950" y="31813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8A75"/>
            </a:solidFill>
            <a:prstDash val="solid"/>
            <a:tailEnd type="arrow" w="med" len="med"/>
          </a:ln>
        </p:spPr>
      </p:cxnSp>
      <p:cxnSp>
        <p:nvCxnSpPr>
          <p:cNvPr id="28" name="pipeline-flow-4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467850" y="31813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8A75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B9AADB-089A-4B8D-A9BE-A4263152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742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명시적 status 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DF1000-6181-4454-854E-E751634C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00550"/>
            <a:ext cx="1276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D11C0F-BDC7-4E2C-BCFB-D2F3A699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3390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succeeded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402A4A-CDE2-42C8-94C2-E71F4E48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00550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61173C-323E-432F-BEE7-FA1AE555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33900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36B00"/>
                </a:solidFill>
                <a:latin typeface="Consolas"/>
                <a:ea typeface="Consolas"/>
                <a:cs typeface="Consolas"/>
              </a:defRPr>
            </a:pPr>
            <a:r>
              <a:t>waiting_human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799B16-D36E-41C5-A58C-1F2EA2EC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00550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EDF2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856A26-FAD9-4468-A923-E6B73024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50034"/>
                </a:solidFill>
                <a:latin typeface="Consolas"/>
                <a:ea typeface="Consolas"/>
                <a:cs typeface="Consolas"/>
              </a:defRPr>
            </a:pPr>
            <a:r>
              <a:t>blocked · stale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D8174-5BE4-4C5C-BBB0-80851C1C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F66644-9C0B-4A97-89AA-647E7661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failed_retryable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7BFCFF-E631-4E90-BD24-A384B24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00550"/>
            <a:ext cx="1485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8C9EC4-50B9-46F8-8A21-60DB801C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339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terminal · cancelled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AE804E-788E-42C9-BC89-1086C08C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19700"/>
            <a:ext cx="762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E8A094-B366-44CF-8B9F-4CB2CF42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7210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M00는 범용 DAG 엔진이 아니라 run/arun 의미가 같은 작은 typed kernel부터 시작한다.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6A6384-1217-42A2-B234-0C811D65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B4D2EB-79B9-43DC-8252-0C9C1E0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Source: composable-pipeline-plan.md §4 | M00 interface_defined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10AF2F-EC01-4448-A05E-99D3F848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0486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1300C78-0834-41E4-8026-63F036EC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DD76AD-8527-43C0-852D-C4956B58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RAG WITHOUT AN EMBEDDING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6EEAA-AEC7-423D-8E3D-5FBC2AB2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임베딩이 없어도 lexical baseline으로 흐름을 검증하고, 영향도는 0.0에서 시작한다.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77F12-BEFE-40CF-ABE3-0506D9FE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검색 stack은 교체 가능하지만, 평가 책임선은 고정된다.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59455-E340-41B5-9AE5-C2657133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238500" cy="255270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28575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3C47F-54E2-4378-B266-0DEC92A0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9247A-89F0-408D-B244-4C34EFE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Null + Lexical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1A674-9CC8-4F87-A720-1B49A268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781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synthetic cases stage metadata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2891E-95AB-4EB1-A0F2-135F8942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ED1D8-4071-479C-9EFD-FCC81091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78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Noto Sans KR"/>
                <a:ea typeface="Noto Sans KR"/>
                <a:cs typeface="Noto Sans KR"/>
              </a:defRPr>
            </a:pPr>
            <a:r>
              <a:t>similarity weight = 0.0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11DDA-AE28-4983-9D99-8FED377D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3238500" cy="2819400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146F2-CCAC-4791-B61E-FF375A6A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6A3BE-3025-4613-91B8-D7CF76DF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Approved Vector / Hybrid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C2495-7499-4EC2-BFDC-A7892D55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2781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비식별 corpus versioned embeddings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1F6FF-BBC8-4CE6-AB2B-0BF5D64E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955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5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2A9E6-E62E-4223-A47B-18553F07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278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Recall@k · nDCG@k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4D6AE-6E73-489B-BF32-ECBAC74F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238500" cy="3086100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BB33B-C0E9-451A-839A-D52AAAC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2885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PROMOTE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A55CD-1D0B-4F23-9F38-E91EA4A7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Rerank + Calibration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1E40A-3DC6-46BC-B7D2-B8C39D95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2781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case aggregation model disagreement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FF211-47D1-4681-A69C-853DBB77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B00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F86D3-BEF6-45DB-97E9-7D053190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278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정책 검토 후 portion 조정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74C27-3F6C-4BDC-81BA-FD9BABD0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363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① access policy → ② parse/normalize → ③ de-identify → ④ semantic chunk → ⑤ 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24B7E-150D-4A12-B79E-3786BA65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E93D6-A353-4434-9A12-CBC5CB3A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similarity는 일관성 점검 자료이며, raw score가 자동 통과·탈락을 만들지 않는다.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0248C-6A59-4675-AB17-7E5B2484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B07A5-48C8-4232-8264-313D86D5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Current evidence: synthetic fixture + lexical retrieval only | no model-quality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1E3D23-2FF7-4B50-8D76-45320108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109512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CCD5A59-D817-4D3B-8AB2-6F32D60B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C96F7FE-E088-423F-9A42-F3D6F80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MODULE CONTROL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B1A1C-9738-4723-9FC5-C38096AF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M00/M01 계약이 고정되어야 이후 모듈을 안전하게 병렬화할 수 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17E4C-901C-48C9-B134-0DCC7F6F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F7DE6-559A-45D0-8E03-3886818D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09750"/>
            <a:ext cx="962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314A1-2064-422A-A375-718603B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19050">
            <a:solidFill>
              <a:srgbClr val="B36B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5FB17-5087-480B-8390-9BFA6F33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6B00"/>
                </a:solidFill>
                <a:latin typeface="Consolas"/>
                <a:ea typeface="Consolas"/>
                <a:cs typeface="Consolas"/>
              </a:defRPr>
            </a:pPr>
            <a:r>
              <a:t>M00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8B2D0-37FD-43AC-A4CA-945DF3A9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8120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Pipeline Kernel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5C82E-16EA-4CA8-902B-E6CCBE6B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2247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36B00"/>
                </a:solidFill>
                <a:latin typeface="Consolas"/>
                <a:ea typeface="Consolas"/>
                <a:cs typeface="Consolas"/>
              </a:defRPr>
            </a:pPr>
            <a:r>
              <a:t>interface_defined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293D6-D248-4009-BE15-77463CE3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240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19050">
            <a:solidFill>
              <a:srgbClr val="B36B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0E1DB-BB38-4A0D-AD5D-5818E8C9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002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6B00"/>
                </a:solidFill>
                <a:latin typeface="Consolas"/>
                <a:ea typeface="Consolas"/>
                <a:cs typeface="Consolas"/>
              </a:defRPr>
            </a:pPr>
            <a:r>
              <a:t>M01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147E0-C0D5-4D10-AA6C-2B7BDE2B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Dossier / 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6E9C3-8EFB-48D4-B891-26F7945C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47900"/>
            <a:ext cx="2247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36B00"/>
                </a:solidFill>
                <a:latin typeface="Consolas"/>
                <a:ea typeface="Consolas"/>
                <a:cs typeface="Consolas"/>
              </a:defRPr>
            </a:pPr>
            <a:r>
              <a:t>not_started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C5401-6285-46A0-83D1-9F7F138D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2C083-C98A-47D1-BE80-E3EAEB80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M02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25205-D23E-499C-9171-4BF22875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8120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State / Approval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25C4D-CD73-4EDE-8BC8-EB897AF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2247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offline_reference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427B0-5C81-401A-AFCC-AE50325A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CAPABILITIES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AF723-45A0-405E-9332-ADECD935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57500"/>
            <a:ext cx="962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A264E-B1D0-4823-9117-F6CCAE64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1381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D1FD4-4DA6-4B9E-9A60-43C12111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480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M03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178C0-4D12-4B75-BE03-1440EBD3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7524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Evidence Ingest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FE80E-8BA7-4C97-B207-DCF57D26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95650"/>
            <a:ext cx="1152525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not_started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3C2993-3FF6-4FEE-904A-A6C24DA7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71800"/>
            <a:ext cx="1381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5B619-0442-49FB-9036-C85C2F01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M04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46920-AA50-44A0-9AE6-3EB9A85B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524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Retrieval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6AD76-2A9A-4C69-B985-FE947EB3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95650"/>
            <a:ext cx="1152525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offline_reference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6CFAE-7F42-4176-93DC-2DDECF8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381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00D0B-1423-41C9-918F-3B71123A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M05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F884D-BEF6-4F19-AAD2-CA07CCE9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7524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Evaluation / Rubric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12AC7-7044-45C9-8898-4641B1CA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1152525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interface_defined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DB9D54-B1AC-472E-91C0-0C77E229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1381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B41012-2542-4A03-A822-C6D20740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480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M06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4E3A6C-B01E-4978-A3C4-7D821E7F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28950"/>
            <a:ext cx="7524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Calibration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D1B63F-903E-49A8-813A-D70AA76B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95650"/>
            <a:ext cx="1152525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not_started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74D782-FF2A-4A86-B5AD-9EE3EAED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1381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5E73B6-C9D6-48EE-AC42-B6A9AB35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M07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7FBB95-CCA8-40F8-8029-2EA50783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7524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Reports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62DB25-A45E-442D-AC48-2CDB5C8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1152525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interface_defined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E58714-996F-403B-941A-DF15D9AF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71800"/>
            <a:ext cx="1381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B2FCFE-9A6C-4FB6-96FF-2788471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M08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220935-DAE0-41E2-808A-20C74E32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28950"/>
            <a:ext cx="7524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Review / Notification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3C1C29-F18A-4F39-87D2-D45950B0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95650"/>
            <a:ext cx="1152525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offline_reference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E634EE-AB71-40BF-9986-731145AB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COMPOSITION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39DFC5-045A-4265-B47E-D7ED58F5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00500"/>
            <a:ext cx="962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5FDEEB-E9BA-4420-B8D6-1DE1D9CB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1480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2FECE7-5146-4D49-B5FC-BB751937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910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M09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5BEDC1-C70C-4DC2-AF47-759905E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71950"/>
            <a:ext cx="270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Workflow Runtime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B658DF-2A37-409B-B0E1-2E1C062B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38650"/>
            <a:ext cx="3105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interface_defined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DC5D08-52EB-4F29-B2CC-7022D84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1480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53CE1D-C532-4256-8539-1F85EBF5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M10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7E5CE2-8124-490F-87E4-81BD3593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71950"/>
            <a:ext cx="270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Runtime Profiles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67B740-A0EA-43D5-A8EB-F1D71C21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38650"/>
            <a:ext cx="3105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interface_defined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4529DF-7B2F-4EAF-922F-377C0856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DELIVERY INTERFACES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276F98-0C2F-4AB5-9093-CB9F8D37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48250"/>
            <a:ext cx="962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D259D3-440C-4777-BE41-8E28A7CA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625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8CD879-AE61-4D73-802C-B21C737F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38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M11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10C2A5-2125-43B9-BD77-81B32068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Script / CLI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8D6A5E-AFC8-40F9-AADD-8068B9A5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86400"/>
            <a:ext cx="2247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not_started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9417DE-6168-40A4-B809-02982C97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625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6E912F-D9B0-4E4F-80C0-F574F1D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M12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7582BE-AADC-43CB-BDAF-FB9C648C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1970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API / Worker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58B856-659D-4429-A17C-5EFE13C3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86400"/>
            <a:ext cx="2247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not_started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9C2743-0B88-48D3-B365-C897812C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625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EDF2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A5C101-CB18-4E8B-99BB-CD04111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38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50034"/>
                </a:solidFill>
                <a:latin typeface="Consolas"/>
                <a:ea typeface="Consolas"/>
                <a:cs typeface="Consolas"/>
              </a:defRPr>
            </a:pPr>
            <a:r>
              <a:t>M13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D3DA19-DD4D-45E7-8D0D-F9316E79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1970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Web Review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BB3839-C93A-4866-A502-6FA6D0AA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2247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50034"/>
                </a:solidFill>
                <a:latin typeface="Consolas"/>
                <a:ea typeface="Consolas"/>
                <a:cs typeface="Consolas"/>
              </a:defRPr>
            </a:pPr>
            <a:r>
              <a:t>blocked_policy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2EEDEB-3375-4987-981F-E4F96CE4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19050">
            <a:solidFill>
              <a:srgbClr val="B36B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64DB52-2546-4AAB-993F-BA4126FB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NEXT: M00 PipelineContext/Run/Registry + M01 dossier revision/hash/snapshot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E27CDE-DC22-4F68-A01B-48B1BB9F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43600"/>
            <a:ext cx="352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status는 진척률이 아니라 Exit Evidence 수준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CB583C-C283-4068-BCAA-116D413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B95F79-8050-4D8C-84E1-61CF60D2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Source: module-delivery-plan.md control board | 14 modules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ED993B-1B07-4229-A590-45423A30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60748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2624AE2-CA97-4AAA-A4EC-E2B0CC75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646C3C-5734-453E-9930-1D13B221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DEPENDENCY-GATED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C8C48-EFB7-444D-BBC0-3428DA29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로드맵은 화면부터가 아니라 검증 가능한 library slice부터 전개된다.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A166F-8B32-4F5A-B1A5-8C3E5A5A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D4508-6389-4363-A541-F35ECDAF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A75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90940-E162-48BE-AF84-B7249B9C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E1255-E569-456C-9890-2677D5A1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W0 · P1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86244-0978-4D60-B39B-E83E7C22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E46AC-FD45-4E2C-A515-AC47D760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40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Harness +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8A397-50FE-4D7C-AB44-D4A1289E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5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F0159-C6FC-478E-A867-7001C64F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G1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A1213-2D74-4211-B491-3EC63BD6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00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C6B70-1B22-4BF5-9C2E-639E2812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D6C7F-E973-4B0C-BF41-D83800A6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909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36B00"/>
                </a:solidFill>
                <a:latin typeface="Consolas"/>
                <a:ea typeface="Consolas"/>
                <a:cs typeface="Consolas"/>
              </a:defRPr>
            </a:pPr>
            <a:r>
              <a:t>W1 · WP-01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D0ADD-D69F-4E4D-A718-48D5C47A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957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28575">
            <a:solidFill>
              <a:srgbClr val="B36B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83DCC-D248-4E96-88E9-9F91159C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86200"/>
            <a:ext cx="140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Kernel + Dossier + Freeze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71403-E132-4919-8878-5C0D31A8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76750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B00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71DB1-807E-42D4-A112-5B95E741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9105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contract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ADC69-155E-4A6C-B183-A2639A1D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28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B7244-68A7-4FBC-88E1-CE1A7FD6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98D7D-6C51-46FA-965D-0CFD77E2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909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W2 · WP-02/03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B7BAC-CB1A-45E4-93DA-D575FDE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241D8A-4BD8-4C23-878C-ED667AE4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86200"/>
            <a:ext cx="140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Evidence + Eval +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F3413-4693-4144-AA4A-5124C190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76750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16E0B9-F0C2-4A72-A3D7-83D2A295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9105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deterministic E2E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883960-9070-4F34-89F3-5CB9AF60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C6A0FF-5A7D-487C-8CAD-989970CD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42CA3-9CD3-48CC-A9D2-6E1103E3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W3 · WP-04/05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83017-53C4-499E-B5B4-C9733DBA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7F5F73-4DBE-4547-B20E-B6423C39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140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Retrieval + Model + Calibration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CFF1F-FFD2-4468-801A-9221A953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8A06A9-08F0-4915-A96E-7402B031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quality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51EB71-ECCA-4574-90B2-53D01CAE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022DF0-482C-4EEB-AF7A-9D184D69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73164F-FA4F-4149-BFCC-F2EAB263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t>W4 · WP-06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A48DAA-B20F-42CC-98FD-C946D376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957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295B83-917A-4C8F-B32B-4D387D1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140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Workflow Runtime + Interfaces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7FE6D2-0DE3-4E90-9F4C-A31C007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A667EE-EBAB-4DB6-9C5D-E2E9F9BF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wait/resume parity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C78D03-B0EE-4B3F-BE0F-0C030FD5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28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5CF980-8361-4BB7-BCAF-618AAE7D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241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C061C8-7B77-47AA-9766-A36186AE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909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50034"/>
                </a:solidFill>
                <a:latin typeface="Consolas"/>
                <a:ea typeface="Consolas"/>
                <a:cs typeface="Consolas"/>
              </a:defRPr>
            </a:pPr>
            <a:r>
              <a:t>W5 · WP-07/08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090441-2D5D-4161-91FF-D84153EC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957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DF2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6FA9ED-59FB-4954-B321-92A84375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40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Web Review + Pilot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3F0E62-AC72-4BA9-9C50-A499AB2C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76750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ACECB2-E477-4002-B194-3FC463BF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9105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approved pilot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4E748A-36CB-45F8-A661-EAD89CAC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COMPLETE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0F510E-0340-46BF-AFF0-6164AAAC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NEXT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2FA676-1DFA-4282-803E-C1FC61F8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6819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DEPENDENCY GATE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9DA692-3550-4D74-8AF9-25125B4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EBF6CA-6395-4D59-B24A-F673BCBF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51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각 Wave는 날짜가 아니라 Exit Evidence가 존재할 때만 다음 상태로 승격된다.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339F28-E38F-4E2B-8686-2B7F381C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B2FE43-299F-447A-A675-EECC0A0E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Source: workflow-blueprint.md §7 / module-delivery-plan.md §4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DC18D0-9576-4C52-852C-E5113196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8240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9E2F57-EC22-4544-A7E8-6624339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384CA4-7DA4-4ABC-B9B6-3E2CD002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NON-NEGOTIABLE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C06ED-1A99-4BD0-A22D-62CB19EC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자동화가 실패해도 책임선·근거선·보안선은 무너지지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CE2A1-F57D-4D83-92E2-DBD623B8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6D9A9-D610-452F-B560-D31B532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371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NON- NEGOTIABLE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290BF-AD93-4DFA-B5F9-FB199A3E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8428C-0149-4DE7-9A6F-E7C12C82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71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DCE7"/>
                </a:solidFill>
                <a:latin typeface="Noto Sans KR"/>
                <a:ea typeface="Noto Sans KR"/>
                <a:cs typeface="Noto Sans KR"/>
              </a:defRPr>
            </a:pPr>
            <a:r>
              <a:t>config로 끌 수 없음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8C21A-F760-436C-B4B7-56EA93BD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371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EA8BA"/>
                </a:solidFill>
                <a:latin typeface="Noto Sans KR"/>
                <a:ea typeface="Noto Sans KR"/>
                <a:cs typeface="Noto Sans KR"/>
              </a:defRPr>
            </a:pPr>
            <a:r>
              <a:t>domain state machine + policy guards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DA9AE-DF78-46C4-86B2-CAC2C3C0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09750"/>
            <a:ext cx="8934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E0333-8054-4E88-B8BF-FE80AF3A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09750"/>
            <a:ext cx="9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34"/>
          </a:solidFill>
          <a:ln xmlns:a="http://schemas.openxmlformats.org/drawingml/2006/main" w="9525">
            <a:solidFill>
              <a:srgbClr val="A500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831A8-D2D2-4E06-B9F1-3E0D62BE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812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0034"/>
                </a:solidFill>
                <a:latin typeface="Consolas"/>
                <a:ea typeface="Consolas"/>
                <a:cs typeface="Consolas"/>
              </a:defRPr>
            </a:pPr>
            <a:r>
              <a:t>DECISION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56F81-AB75-4DD5-B0D8-5392169D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860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사람 책임선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EBE4E-4520-49B0-BA3B-7B37EA0A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431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01  두 Gate 모두 관리자 HITL 필수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ED8E2-C7AB-44F2-BF45-078DD92C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02  Agent는 recommendation만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8965D-23EC-4340-B44B-F88275BD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527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03  멘토 배정 시 완료 제출 승인 우회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F6714-6B54-4CE1-8933-8A6FB6E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43250"/>
            <a:ext cx="8934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1697E-6672-4BEF-BB8D-8349E62D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43250"/>
            <a:ext cx="9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634FD-5F75-4F4E-A649-DFBF7DD2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t>EVIDENCE INTEGRITY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6F29E-2788-4B5C-91B3-CFA7577D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95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근거와 재현성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78EC6-D891-4831-B30F-431813B2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01  revision · SHA-256 snapshot · stale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A385D-94AA-445C-8B86-3A59E210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814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02  criterion마다 locator 또는 판단불가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64F34-9EF7-4416-8FEC-DD6CF4F3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03  등록/완료 RAG stage와 corpus version 분리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11778-D0AF-4061-918C-35C6F152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76750"/>
            <a:ext cx="8934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2F4DC-EEE6-4E2D-BA17-64DB68EE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76750"/>
            <a:ext cx="9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5"/>
          </a:solidFill>
          <a:ln xmlns:a="http://schemas.openxmlformats.org/drawingml/2006/main" w="9525">
            <a:solidFill>
              <a:srgbClr val="1E8A7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BEBD3-5778-4482-A95B-94E1FFB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482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A75"/>
                </a:solidFill>
                <a:latin typeface="Consolas"/>
                <a:ea typeface="Consolas"/>
                <a:cs typeface="Consolas"/>
              </a:defRPr>
            </a:pPr>
            <a:r>
              <a:t>OPERATIONAL SAFETY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DAB53-A03C-4009-9AA3-86475F00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530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실패해도 안전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3EC43-9C7B-4BAC-9EDE-C3065BDD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101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01  review request + outbox 원자 기록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3D1364-2C8F-42CF-BBFC-C4FD533C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149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02  idempotency · retry · partial failure 보존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E0F046-D025-4D1D-BE61-220F61A8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97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03  secret/redaction · provider independence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46835-7DF8-46A5-AC3F-6D642602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924550"/>
            <a:ext cx="893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Chain-of-thought는 저장하지 않고, 짧은 판단요약·인용근거·구조화 결과만 보존한다.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2A322-FD02-4F1F-AD39-385B3C6B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A6DDEF-9126-4E90-98E6-68FB8BA0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Source: AGENTS.md product invariants / composable pipeline variation limits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FBC69-ADB1-4DF5-939A-CE56EB90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73120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AD86EE-2202-4E2A-B9EE-222973C5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D9EDEC-96C5-4D42-94CF-870271A8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NEXT EXECUTABLE SLICE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CEAB8-B3F9-488E-861B-6BE64F74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다음 1개 slice가 설계를 실행 가능한 계약으로 전환한다.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78BCD-3E10-49FA-A9A9-5D69AF4E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6B00"/>
                </a:solidFill>
                <a:latin typeface="Consolas"/>
                <a:ea typeface="Consolas"/>
                <a:cs typeface="Consolas"/>
              </a:defRPr>
            </a:pPr>
            <a:r>
              <a:t>WP-01 / M00 + M01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13987-E7C9-4BC4-A267-6B8148DB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6291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101F4-4831-4478-B779-1949200F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095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dossier.freeze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D3BD9-BB29-4D94-8020-68A773D8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D312E"/>
                </a:solidFill>
                <a:latin typeface="Consolas"/>
                <a:ea typeface="Consolas"/>
                <a:cs typeface="Consolas"/>
              </a:defRPr>
            </a:pPr>
            <a:r>
              <a:t>/v1alpha1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4152D-E3CB-4A9A-9C40-82390AD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C2D1"/>
                </a:solidFill>
                <a:latin typeface="Consolas"/>
                <a:ea typeface="Consolas"/>
                <a:cs typeface="Consolas"/>
              </a:defRPr>
            </a:pPr>
            <a:r>
              <a:t>현재 상태  ·  implementation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5155F-53E9-40C9-B8A2-79C77B01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EXIT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1ECEF-7544-49FB-87EC-D8C91D30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8A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4C63F-E5D6-472A-BD6C-0A3BA019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81225"/>
            <a:ext cx="2095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36CE3-006D-4B15-836B-FA4DA1A2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typed request / context /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3549F-ACB0-4C10-9588-DA062557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77413-D7DE-4567-8436-FA14C1FF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8A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C3EBE-36BB-4412-A006-6E6C252D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95575"/>
            <a:ext cx="2095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61F1A-20E5-4126-82CF-89C89CA8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revision 검증 + canonical SHA-256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8C723-C5CB-4948-B172-DA73B3E9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6D95B-4689-41E2-BBF1-BDACDF73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81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8A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FBD00-8299-46F1-8F79-813092B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9925"/>
            <a:ext cx="2095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582FC-67C1-46C0-A85A-73BF624E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immutable snapshot repository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1C58A-67C2-47C2-B3EA-A439116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88A7E-C045-4E67-9891-F2FD3044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8A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6A51F-8A8C-439D-8086-2E3C86EE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24275"/>
            <a:ext cx="2095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4A7A4A-FFC3-4802-844E-91984C3B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stale · invalid · duplicate 분리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9D4B2-FE27-4AF5-AE04-952228D8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1E1C6-42C7-4053-A8B4-C4BF507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8A7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9F6D9B-F7A4-40C7-9BA3-08E5C7B9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38625"/>
            <a:ext cx="2095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FE139-241A-404D-B4F9-8F18C428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thin Python working script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BF5BA7-B1FF-4C92-B80E-A9422064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840DF-73B3-4FEA-911A-693802E4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8A7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E2F97B-ACEA-4E1E-B714-61D2B2F7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52975"/>
            <a:ext cx="2095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8A75"/>
                </a:solidFill>
                <a:latin typeface="Noto Sans KR"/>
                <a:ea typeface="Noto Sans KR"/>
                <a:cs typeface="Noto Sans KR"/>
              </a:defRPr>
            </a:pPr>
            <a: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66B4FB-A2C2-495A-A785-313951F9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round-trip · hash · idempotency tests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818E8E-9285-4E1E-B6AF-2B06986E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A6090D-6961-41AC-ADBF-04BB4BC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629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B36B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D4A4C-F3AE-4C73-AE42-52E6F598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6B00"/>
                </a:solidFill>
                <a:latin typeface="Noto Sans KR"/>
                <a:ea typeface="Noto Sans KR"/>
                <a:cs typeface="Noto Sans KR"/>
              </a:defRPr>
            </a:pPr>
            <a:r>
              <a:t>IN SCOPE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A7EB90-3A72-4718-818E-818C82D0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Python 3.12 · synthetic dossier offline FS/in-memory adapter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C6FA98-88EE-4D21-8EEB-4636D023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1962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0034"/>
                </a:solidFill>
                <a:latin typeface="Noto Sans KR"/>
                <a:ea typeface="Noto Sans KR"/>
                <a:cs typeface="Noto Sans KR"/>
              </a:defRPr>
            </a:pPr>
            <a:r>
              <a:t>EXPLICITLY 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25CFA0-9661-4FA7-BF49-03B37364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1962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t>FastAPI · Web · live model Vector DB · 실제 사내 데이터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037259-C021-4F3A-8FE9-4B8D3942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3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12E"/>
          </a:solidFill>
          <a:ln xmlns:a="http://schemas.openxmlformats.org/drawingml/2006/main" w="9525">
            <a:solidFill>
              <a:srgbClr val="FD31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88B5E3-864A-401A-9225-1F2B1241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G1 baseline 검토 → 이 slice 구현 → validate · test · eval · Ruff · Pyright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08B474-502F-40FE-89CB-BDDB7340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36EA3D-EC98-4AB1-A183-24C6AE75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Decision point: begin WP-01 after G1 baseline acceptance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299543-D122-45F1-B958-2070B462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81925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2026-07-14T21:47:44.7290000Z</dcterms:created>
  <dcterms:modified xsi:type="dcterms:W3CDTF">2026-07-14T21:47:44.7290000Z</dcterms:modified>
</coreProperties>
</file>